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" userId="71cb38f7781216a9" providerId="LiveId" clId="{4F1512C2-3991-4DFF-A77B-43F00DF257C1}"/>
    <pc:docChg chg="undo redo custSel modSld">
      <pc:chgData name="Mani" userId="71cb38f7781216a9" providerId="LiveId" clId="{4F1512C2-3991-4DFF-A77B-43F00DF257C1}" dt="2026-10-08T10:06:53.448" v="407" actId="14"/>
      <pc:docMkLst>
        <pc:docMk/>
      </pc:docMkLst>
      <pc:sldChg chg="addSp delSp modSp mod">
        <pc:chgData name="Mani" userId="71cb38f7781216a9" providerId="LiveId" clId="{4F1512C2-3991-4DFF-A77B-43F00DF257C1}" dt="2026-10-07T15:02:35.349" v="180" actId="20577"/>
        <pc:sldMkLst>
          <pc:docMk/>
          <pc:sldMk cId="0" sldId="260"/>
        </pc:sldMkLst>
        <pc:spChg chg="mod">
          <ac:chgData name="Mani" userId="71cb38f7781216a9" providerId="LiveId" clId="{4F1512C2-3991-4DFF-A77B-43F00DF257C1}" dt="2026-10-07T15:00:15.566" v="166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ni" userId="71cb38f7781216a9" providerId="LiveId" clId="{4F1512C2-3991-4DFF-A77B-43F00DF257C1}" dt="2026-10-07T15:02:35.349" v="180" actId="20577"/>
          <ac:spMkLst>
            <pc:docMk/>
            <pc:sldMk cId="0" sldId="260"/>
            <ac:spMk id="4" creationId="{00000000-0000-0000-0000-000000000000}"/>
          </ac:spMkLst>
        </pc:spChg>
        <pc:spChg chg="add del">
          <ac:chgData name="Mani" userId="71cb38f7781216a9" providerId="LiveId" clId="{4F1512C2-3991-4DFF-A77B-43F00DF257C1}" dt="2026-10-07T14:34:30.789" v="6"/>
          <ac:spMkLst>
            <pc:docMk/>
            <pc:sldMk cId="0" sldId="260"/>
            <ac:spMk id="5" creationId="{FFF161D1-A3BD-4193-89DA-8BF3B9AEE814}"/>
          </ac:spMkLst>
        </pc:spChg>
        <pc:spChg chg="add del">
          <ac:chgData name="Mani" userId="71cb38f7781216a9" providerId="LiveId" clId="{4F1512C2-3991-4DFF-A77B-43F00DF257C1}" dt="2026-10-07T14:58:22.293" v="109"/>
          <ac:spMkLst>
            <pc:docMk/>
            <pc:sldMk cId="0" sldId="260"/>
            <ac:spMk id="6" creationId="{C39A43E9-1474-4287-90F9-F7386DEC42A1}"/>
          </ac:spMkLst>
        </pc:spChg>
      </pc:sldChg>
      <pc:sldChg chg="modSp mod">
        <pc:chgData name="Mani" userId="71cb38f7781216a9" providerId="LiveId" clId="{4F1512C2-3991-4DFF-A77B-43F00DF257C1}" dt="2026-10-08T10:06:53.448" v="407" actId="14"/>
        <pc:sldMkLst>
          <pc:docMk/>
          <pc:sldMk cId="0" sldId="261"/>
        </pc:sldMkLst>
        <pc:spChg chg="mod">
          <ac:chgData name="Mani" userId="71cb38f7781216a9" providerId="LiveId" clId="{4F1512C2-3991-4DFF-A77B-43F00DF257C1}" dt="2026-10-08T10:05:40.994" v="393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ni" userId="71cb38f7781216a9" providerId="LiveId" clId="{4F1512C2-3991-4DFF-A77B-43F00DF257C1}" dt="2026-10-08T10:06:53.448" v="407" actId="14"/>
          <ac:spMkLst>
            <pc:docMk/>
            <pc:sldMk cId="0" sldId="261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latin typeface="Aptos"/>
              </a:defRPr>
            </a:pPr>
            <a:r>
              <a:t>Retail Chain Profit Leakage</a:t>
            </a:r>
            <a:br/>
            <a:r>
              <a:t>&amp; Demand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latin typeface="Aptos"/>
              </a:defRPr>
            </a:pPr>
            <a:r>
              <a:t>SQL • Python • Power BI •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1. What was the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Sales were good, but the business was still facing profit pressure.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The project asked me to look at profit leakage, returns, stockouts, promotions and vendor delays.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The idea was to move from raw Excel data to useful analysis and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2. Data I worked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7 main tables: Sales, Products, Inventory, Returns, Vendor Supply, Promotions and Customers.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I first cleaned duplicate rows, SKU mismatches, negative quantities, invalid promotion IDs and store ID formats.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I kept data-quality flags where rows could not safely be removed.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The final cleaned workbook was then used for SQL, Python, Power BI and Tableau.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3. What I found about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Total Sales: ₹26.47M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Gross Profit: ₹2.96M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Net Profit: ₹1.46M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Approved Return Loss: ₹1.51M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Five loss-making SKUs together had about ₹42.85K negative net profit.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0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4. Top 5 loss-making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6640"/>
            <a:ext cx="10789920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1. Urban Leaf Rice Combo — −₹11,287.57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2. Urban Leaf Ice Cream 1L — −₹9,935.97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3. Health Hub Diapers Pack — −₹8,080.50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4. </a:t>
            </a:r>
            <a:r>
              <a:rPr lang="en-IN" dirty="0"/>
              <a:t>CleanPro</a:t>
            </a:r>
            <a:r>
              <a:rPr dirty="0"/>
              <a:t> Curd 1kg — −₹7,515.35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5. </a:t>
            </a:r>
            <a:r>
              <a:rPr lang="en-IN" dirty="0"/>
              <a:t>Snackify</a:t>
            </a:r>
            <a:r>
              <a:rPr dirty="0"/>
              <a:t> Rice Combo — −₹6,029.56</a:t>
            </a:r>
            <a:endParaRPr lang="en-IN" dirty="0"/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US" sz="1600" b="1" dirty="0"/>
              <a:t>Good sales volume but negative profitability</a:t>
            </a:r>
            <a:r>
              <a:rPr lang="en-US" sz="1600" dirty="0"/>
              <a:t>: </a:t>
            </a:r>
            <a:r>
              <a:rPr lang="en-IN" b="1" dirty="0"/>
              <a:t>3</a:t>
            </a:r>
            <a:r>
              <a:rPr lang="en-IN" sz="1600" b="1" dirty="0"/>
              <a:t>-stage leakage pattern:</a:t>
            </a:r>
            <a:endParaRPr lang="en-US" dirty="0"/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US" sz="1600" dirty="0"/>
              <a:t>Stage 1 - Discounts reduce revenue : Ex: SKU00766- It is selling nearly ₹70K.</a:t>
            </a:r>
            <a:r>
              <a:rPr lang="en-US" sz="1600" b="1" dirty="0"/>
              <a:t> 14.7% of gross sales</a:t>
            </a:r>
            <a:r>
              <a:rPr lang="en-US" sz="1600" dirty="0"/>
              <a:t> eaten away as discount. 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IN" sz="1600" dirty="0"/>
              <a:t>Stage 2 - COGS consumes remaining sales </a:t>
            </a:r>
            <a:r>
              <a:rPr lang="en-US" sz="1600" dirty="0"/>
              <a:t>-&gt; COGS almost consumes all net sales ₹59,526. ₹285- almost no margin left.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US" sz="1600" dirty="0"/>
              <a:t>Stage 3 - Returns eliminate the remaining profit -&gt; Returns eliminate the remaining profit  ₹285 − ₹7,800 = </a:t>
            </a:r>
            <a:r>
              <a:rPr lang="en-US" sz="1600" b="1" dirty="0"/>
              <a:t>-₹7,515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US" sz="1600" dirty="0"/>
              <a:t>	Same goes with Ex: SKU00877- It is selling nearly </a:t>
            </a:r>
            <a:r>
              <a:rPr lang="en-IN" sz="1600" dirty="0"/>
              <a:t>₹73K but </a:t>
            </a:r>
            <a:r>
              <a:rPr lang="en-US" sz="1600" dirty="0"/>
              <a:t>COGS(</a:t>
            </a:r>
            <a:r>
              <a:rPr lang="en-IN" sz="1600" dirty="0"/>
              <a:t>₹65K</a:t>
            </a:r>
            <a:r>
              <a:rPr lang="en-US" sz="1600" dirty="0"/>
              <a:t>) is actually higher than the net sales(63K). Refund = ₹7,544.42--&gt; pushes it to: Net Profit = </a:t>
            </a:r>
            <a:r>
              <a:rPr lang="en-US" sz="1600" b="1" dirty="0"/>
              <a:t>- ₹9,935.97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US" sz="1600" b="1" dirty="0"/>
              <a:t>Therefore, the falling-profit issue is driven by a combination of discount leakage, high COGS relative to net sales, and return/refund leakage.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06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rPr dirty="0"/>
              <a:t>5. Returns and promotions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IN" b="1" dirty="0"/>
              <a:t>- </a:t>
            </a:r>
            <a:r>
              <a:rPr b="1" dirty="0"/>
              <a:t>Groceries</a:t>
            </a:r>
            <a:r>
              <a:rPr dirty="0"/>
              <a:t> had the highest return contribution to loss in the category analysis.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IN" dirty="0"/>
              <a:t>- </a:t>
            </a:r>
            <a:r>
              <a:rPr dirty="0"/>
              <a:t>Promotion analysis used incremental profit compared with a non-promotion baseline.</a:t>
            </a:r>
            <a:r>
              <a:rPr lang="en-IN" dirty="0"/>
              <a:t> </a:t>
            </a:r>
            <a:r>
              <a:rPr dirty="0"/>
              <a:t>Some promotions had negative incremental profit</a:t>
            </a:r>
            <a:r>
              <a:rPr lang="en-IN" dirty="0"/>
              <a:t> and some have positive.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latin typeface="Aptos"/>
              </a:defRPr>
            </a:pPr>
            <a:r>
              <a:rPr lang="en-IN" b="1" dirty="0"/>
              <a:t>Example</a:t>
            </a:r>
            <a:r>
              <a:rPr lang="en-IN" dirty="0"/>
              <a:t>: During no promotion </a:t>
            </a:r>
            <a:r>
              <a:rPr lang="en-IN" b="1" dirty="0"/>
              <a:t>SKU00865</a:t>
            </a:r>
            <a:r>
              <a:rPr lang="en-IN" dirty="0"/>
              <a:t> expected baseline profit is 649/- but during promotion </a:t>
            </a:r>
            <a:r>
              <a:rPr lang="en-IN" b="1" dirty="0"/>
              <a:t>PR0181</a:t>
            </a:r>
            <a:r>
              <a:rPr lang="en-IN" dirty="0"/>
              <a:t> its profit is 1595/-. So the </a:t>
            </a:r>
            <a:r>
              <a:rPr lang="en-IN" b="1" dirty="0"/>
              <a:t>incremental profit is 806/-</a:t>
            </a:r>
            <a:endParaRPr b="1" dirty="0"/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For discount analysis, I used &gt;10% as a working threshold because the project did not specify a fixed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6. Vendor and stockout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Vendor performance was checked using late purchase orders, average delay and SLA breach percentage.
</a:t>
            </a:r>
            <a:r>
              <a:rPr b="1" dirty="0"/>
              <a:t>VEND0026, VEND0018 and VEND0001 </a:t>
            </a:r>
            <a:r>
              <a:rPr dirty="0"/>
              <a:t>had the highest late-PO counts among the vendors reviewed.
The refreshed SQL/Tableau analysis identified </a:t>
            </a:r>
            <a:r>
              <a:rPr b="1" dirty="0"/>
              <a:t>11 SKU-store-date </a:t>
            </a:r>
            <a:r>
              <a:rPr dirty="0"/>
              <a:t>combinations with zero closing stock and matching delivered demand.
Combined recorded demand was </a:t>
            </a:r>
            <a:r>
              <a:rPr b="1" dirty="0"/>
              <a:t>25 units</a:t>
            </a:r>
            <a:r>
              <a:rPr dirty="0"/>
              <a:t>, with estimated potential lost sales of </a:t>
            </a:r>
            <a:r>
              <a:rPr b="1" dirty="0"/>
              <a:t>₹3,059.58</a:t>
            </a:r>
            <a:r>
              <a:rPr dirty="0"/>
              <a:t>.
This is an estimate based on recorded demand during zero-stock periods, not proof of all sales that could have been lost. Vendor delays are not attributed as the cause without a matching supply record.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endParaRPr dirty="0"/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endParaRPr dirty="0"/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endParaRPr dirty="0"/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7. 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I used four measures: total spend, average order value, order frequency and return frequency.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Four groups were created using K-Means clustering.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Low-Engagement Customers: </a:t>
            </a:r>
            <a:r>
              <a:rPr b="1" dirty="0"/>
              <a:t>6,328 (42.47%)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High-Value Loyal Customers: 3,759 (25.23%)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High-Value High-Return Customers: 3,082 (20.68%)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High-Ticket Customers: 1,732 (11.62%)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8. Dashboards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US" b="1" dirty="0"/>
              <a:t>Python</a:t>
            </a:r>
            <a:r>
              <a:rPr lang="en-US" dirty="0"/>
              <a:t>: data validation, customer segmentation and automated insight tables.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lang="en-US" b="1" dirty="0"/>
              <a:t>SQL: </a:t>
            </a:r>
            <a:r>
              <a:rPr lang="en-US" dirty="0"/>
              <a:t>profit leakage, return analysis, promotion ROI, vendor delays, stockouts, cohorts and RFM.</a:t>
            </a:r>
            <a:endParaRPr lang="en-US" b="1" dirty="0"/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b="1" dirty="0"/>
              <a:t>Power BI</a:t>
            </a:r>
            <a:r>
              <a:rPr dirty="0"/>
              <a:t>: sales and profit KPIs, returns, vendor delays, promotions and stockout details.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b="1" dirty="0"/>
              <a:t>Tableau</a:t>
            </a:r>
            <a:r>
              <a:rPr dirty="0"/>
              <a:t>: executive summary, store performance quadrant, promotion analysis and vendor/inventory 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9. What I would check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Review the five loss-making SKUs and their price, cost and discounts.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Understand why some categories have higher return losses.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Review repeated vendor SLA breaches.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Check promotions with negative incremental profit.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Monitor products and stores where demand appears during zero-stock periods.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rPr dirty="0"/>
              <a:t>Forecasting was optional in the project, so I did not include a forecasting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latin typeface="Aptos"/>
              </a:defRPr>
            </a:pPr>
            <a:r>
              <a:t>10.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The project showed me that high sales do not automatically mean high profit.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Returns, discounts, product costs, promotions and stock availability all affect the final result.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The final dashboards make it easier to identify where the business should investigate further.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13849</TotalTime>
  <Words>847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Mani Thummanapelli</cp:lastModifiedBy>
  <cp:revision>2</cp:revision>
  <dcterms:created xsi:type="dcterms:W3CDTF">2013-01-27T09:14:16Z</dcterms:created>
  <dcterms:modified xsi:type="dcterms:W3CDTF">2026-10-25T16:13:13Z</dcterms:modified>
  <cp:category/>
</cp:coreProperties>
</file>